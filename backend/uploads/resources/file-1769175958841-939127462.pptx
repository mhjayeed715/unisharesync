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90" r:id="rId2"/>
    <p:sldId id="383" r:id="rId3"/>
    <p:sldId id="384" r:id="rId4"/>
    <p:sldId id="391" r:id="rId5"/>
    <p:sldId id="392" r:id="rId6"/>
    <p:sldId id="394" r:id="rId7"/>
    <p:sldId id="395" r:id="rId8"/>
    <p:sldId id="396" r:id="rId9"/>
    <p:sldId id="350" r:id="rId10"/>
    <p:sldId id="351" r:id="rId11"/>
    <p:sldId id="398" r:id="rId12"/>
    <p:sldId id="399" r:id="rId13"/>
    <p:sldId id="400" r:id="rId14"/>
    <p:sldId id="401" r:id="rId15"/>
    <p:sldId id="402" r:id="rId16"/>
    <p:sldId id="40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BFE6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0167E-694A-43DF-B825-03CCA1CFDA8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899C4-96BF-48F0-9AC3-B86CE79C1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6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ystem-design/unified-modeling-language-uml-class-diagrams/" TargetMode="External"/><Relationship Id="rId2" Type="http://schemas.openxmlformats.org/officeDocument/2006/relationships/hyperlink" Target="https://www.geeksforgeeks.org/sql/how-to-draw-entity-relationship-diagram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AB8F17-DDA9-39F4-0F7E-E113604F54B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6E0661-4820-F99E-E1F7-43B59DCC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delon-Bold" pitchFamily="2" charset="0"/>
              </a:rPr>
              <a:t>Software Design-2</a:t>
            </a:r>
          </a:p>
        </p:txBody>
      </p:sp>
    </p:spTree>
    <p:extLst>
      <p:ext uri="{BB962C8B-B14F-4D97-AF65-F5344CB8AC3E}">
        <p14:creationId xmlns:p14="http://schemas.microsoft.com/office/powerpoint/2010/main" val="125598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22E2-17D9-652C-40A0-B1966362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0DFC1C-B5BE-2E3E-8AAE-0941099191F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F394F-9C90-EFAA-E83E-FA7E0E51B51A}"/>
              </a:ext>
            </a:extLst>
          </p:cNvPr>
          <p:cNvSpPr txBox="1"/>
          <p:nvPr/>
        </p:nvSpPr>
        <p:spPr>
          <a:xfrm>
            <a:off x="312821" y="74236"/>
            <a:ext cx="8518358" cy="62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Do Software Design?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Understand Requirements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Study the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Requirement Specification (SRS)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Clearly understand what the software should do, and under what constraints.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Choose a Suitable Design Method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Decide whether to use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object-oriented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component-based design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depending on the system and requirements.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Develop the Architectural Design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Identify the main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subsystems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software.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 how these modules will interact with each other (communication and data flow).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Design Component Modules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Break down subsystems into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smaller components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 internal functionality for each component using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pseudocode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flowcharts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class diagrams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443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5933-303F-2A31-AF4B-8B76D8A9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EDE569-AF11-84D9-D8AC-023A2E4F792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16D3A-843E-47CB-5769-7763C7180C32}"/>
              </a:ext>
            </a:extLst>
          </p:cNvPr>
          <p:cNvSpPr txBox="1"/>
          <p:nvPr/>
        </p:nvSpPr>
        <p:spPr>
          <a:xfrm>
            <a:off x="312821" y="282955"/>
            <a:ext cx="8518358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Design Interfaces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Specify how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will interact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with one another (internal interfaces).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(external) if the system interacts with end users.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Data Design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 how data will be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accessed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Include class-level or database-level data models.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Use Design Modeling Tools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diagrams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charts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diagrams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etc., to visually represent your design.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Verify and Review the Design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Conduct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reviews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walkthroughs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 even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testing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ensure the design meets all requirements before coding begins.</a:t>
            </a:r>
          </a:p>
        </p:txBody>
      </p:sp>
    </p:spTree>
    <p:extLst>
      <p:ext uri="{BB962C8B-B14F-4D97-AF65-F5344CB8AC3E}">
        <p14:creationId xmlns:p14="http://schemas.microsoft.com/office/powerpoint/2010/main" val="150146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3905-9EF9-1A85-706E-C651780F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8B3F94-1F58-DE15-FE36-9E6D40C54C9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95575-B08E-5A69-7791-F09B76D93B8D}"/>
              </a:ext>
            </a:extLst>
          </p:cNvPr>
          <p:cNvSpPr txBox="1"/>
          <p:nvPr/>
        </p:nvSpPr>
        <p:spPr>
          <a:xfrm>
            <a:off x="312821" y="282955"/>
            <a:ext cx="851835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Major Components of SDS Document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B0F0"/>
                </a:solidFill>
              </a:rPr>
              <a:t>SDS (Software Design Specification)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is a detailed technical document that describes </a:t>
            </a:r>
            <a:r>
              <a:rPr lang="en-US" sz="2000" b="1" dirty="0">
                <a:solidFill>
                  <a:srgbClr val="00B0F0"/>
                </a:solidFill>
              </a:rPr>
              <a:t>how the software system will be built</a:t>
            </a:r>
            <a:r>
              <a:rPr lang="en-US" sz="2000" dirty="0">
                <a:solidFill>
                  <a:srgbClr val="00B0F0"/>
                </a:solidFill>
              </a:rPr>
              <a:t>.</a:t>
            </a:r>
          </a:p>
          <a:p>
            <a:pPr>
              <a:spcAft>
                <a:spcPts val="1200"/>
              </a:spcAft>
              <a:buNone/>
            </a:pPr>
            <a:endParaRPr lang="en-US" sz="2000" b="1" dirty="0">
              <a:solidFill>
                <a:srgbClr val="00B0F0"/>
              </a:solidFill>
            </a:endParaRP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B0F0"/>
                </a:solidFill>
              </a:rPr>
              <a:t>Major Components of SDS Document: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Different modules required: </a:t>
            </a:r>
            <a:r>
              <a:rPr lang="en-US" sz="2000" dirty="0"/>
              <a:t>Lists all functional units or components of the system.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Control relationships among modules: </a:t>
            </a:r>
            <a:r>
              <a:rPr lang="en-US" sz="2000" dirty="0"/>
              <a:t>Describes how control flows between different modules.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Interface among different modules: </a:t>
            </a:r>
            <a:r>
              <a:rPr lang="en-US" sz="2000" dirty="0"/>
              <a:t>Specifies how modules communicate or exchange data.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Data structure among the different modules: </a:t>
            </a:r>
            <a:r>
              <a:rPr lang="en-US" sz="2000" dirty="0"/>
              <a:t>Defines how data is organized and shared between modules.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Algorithms required to implement among the individual modules: </a:t>
            </a:r>
            <a:r>
              <a:rPr lang="en-US" sz="2000" dirty="0"/>
              <a:t>Outlines the key logic or processing steps within each module.</a:t>
            </a:r>
          </a:p>
          <a:p>
            <a:pPr>
              <a:spcAft>
                <a:spcPts val="12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91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56FC-636B-2729-85C8-2A3C001D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E754BA-47F8-E2DB-1724-304FE432961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7E239-60E6-E19E-427A-681F39646095}"/>
              </a:ext>
            </a:extLst>
          </p:cNvPr>
          <p:cNvSpPr txBox="1"/>
          <p:nvPr/>
        </p:nvSpPr>
        <p:spPr>
          <a:xfrm>
            <a:off x="158496" y="161035"/>
            <a:ext cx="8985503" cy="6504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Design Models</a:t>
            </a:r>
          </a:p>
          <a:p>
            <a:pPr algn="just">
              <a:spcAft>
                <a:spcPts val="8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models are structured representations that help in planning how a software system will be built. They bridge the gap between requirements analysis and actual coding, ensuring that the system’s architecture, components, and behavior are well defined.</a:t>
            </a:r>
          </a:p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four types of design elements/ models:</a:t>
            </a:r>
          </a:p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Data Design Model: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Defines how data is structured, stored, and related.</a:t>
            </a:r>
          </a:p>
          <a:p>
            <a:pPr>
              <a:spcAft>
                <a:spcPts val="8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Tools: ER diagrams, class diagrams.</a:t>
            </a:r>
          </a:p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User Interface Design Model: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Describes how users interact with the system.</a:t>
            </a:r>
          </a:p>
          <a:p>
            <a:pPr>
              <a:spcAft>
                <a:spcPts val="8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Tools: Wireframes, UI mockups.</a:t>
            </a:r>
          </a:p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Architectural Design Model: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Shows the high-level structure and module relationships.</a:t>
            </a:r>
          </a:p>
          <a:p>
            <a:pPr>
              <a:spcAft>
                <a:spcPts val="8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Tools: System architecture diagrams.</a:t>
            </a:r>
          </a:p>
          <a:p>
            <a:pPr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Component-Level Design Model: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Details the internal logic of each module.</a:t>
            </a:r>
          </a:p>
          <a:p>
            <a:pPr>
              <a:spcAft>
                <a:spcPts val="8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Tools: Flowcharts, pseudocode.</a:t>
            </a:r>
          </a:p>
        </p:txBody>
      </p:sp>
    </p:spTree>
    <p:extLst>
      <p:ext uri="{BB962C8B-B14F-4D97-AF65-F5344CB8AC3E}">
        <p14:creationId xmlns:p14="http://schemas.microsoft.com/office/powerpoint/2010/main" val="349119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AFB8B-32A7-C460-3E54-4F612237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B4D170-B773-ECBD-D902-0D26291DAB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BBA58-23F4-DB59-9BB9-F53792BE0627}"/>
              </a:ext>
            </a:extLst>
          </p:cNvPr>
          <p:cNvSpPr txBox="1"/>
          <p:nvPr/>
        </p:nvSpPr>
        <p:spPr>
          <a:xfrm>
            <a:off x="158496" y="161035"/>
            <a:ext cx="898550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DESIGN MODEL</a:t>
            </a: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design is the process of creating a blueprint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how data will be stored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accessed, and managed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a software system. It transforms data requirements (from the requirements phase) into a structured format that supports the system's functions and workflows.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Objectives of Data Design: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Organize data efficiently.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Ensure data integrity and consistency.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 the operations of each software module.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Minimize data redundancy.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Elements of Data Design: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Objects (Entities):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Real-world items represented in the system (e.g., Student, Course, Invoice).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Characteristics or properties of data objects (e.g., Student Name, Student ID).</a:t>
            </a:r>
          </a:p>
        </p:txBody>
      </p:sp>
    </p:spTree>
    <p:extLst>
      <p:ext uri="{BB962C8B-B14F-4D97-AF65-F5344CB8AC3E}">
        <p14:creationId xmlns:p14="http://schemas.microsoft.com/office/powerpoint/2010/main" val="103326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0750-B5FC-3DCB-95C5-1255204F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E507C6-C579-1EAF-6EBC-1E1575A6B33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230CD-A28F-E896-6232-4B33E87CFE18}"/>
              </a:ext>
            </a:extLst>
          </p:cNvPr>
          <p:cNvSpPr txBox="1"/>
          <p:nvPr/>
        </p:nvSpPr>
        <p:spPr>
          <a:xfrm>
            <a:off x="158496" y="498964"/>
            <a:ext cx="8985503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Connections between data objects (e.g., A Student enrolls in a Course).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Logical representation of data like arrays, linked lists, queues, trees, etc.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Design: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Includes table creation, normalization, and defining primary/foreign keys.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Dictionary: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reference that defines each data element’s name, type, size, and description.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Common Tools Used: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Diagram (Entity-Relationship Diagram)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shows entities and their relationships.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Diagram (in object-oriented systems)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represents classes, attributes, and associations.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Schema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– outlines how tables relate in a database.</a:t>
            </a:r>
          </a:p>
          <a:p>
            <a:pPr>
              <a:spcAft>
                <a:spcPts val="12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33A0-DB45-F163-55BC-5284E7B7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6B5F03-6CE9-AACA-14A2-7F709AF621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AE76B-67F7-DB34-B13D-2A699CC08034}"/>
              </a:ext>
            </a:extLst>
          </p:cNvPr>
          <p:cNvSpPr txBox="1"/>
          <p:nvPr/>
        </p:nvSpPr>
        <p:spPr>
          <a:xfrm>
            <a:off x="158496" y="161035"/>
            <a:ext cx="8985503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an Online Admission System, the data design would define: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Entities: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Student,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AdmissionForm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Payment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Attributes: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Name,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DateOfBirth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Relationships: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Student → submits →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AdmissionForm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N:B: Must visit the below-mentioned links:</a:t>
            </a: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Details for E-R diagram: </a:t>
            </a: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https://www.geeksforgeeks.org/sql/how-to-draw-entity-relationship-diagrams/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Details for Class diagram: </a:t>
            </a: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https://www.geeksforgeeks.org/system-design/unified-modeling-language-uml-class-diagrams/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0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5-Software-design-95-2048.jpg"/>
          <p:cNvPicPr>
            <a:picLocks noChangeAspect="1"/>
          </p:cNvPicPr>
          <p:nvPr/>
        </p:nvPicPr>
        <p:blipFill>
          <a:blip r:embed="rId2"/>
          <a:srcRect t="12319"/>
          <a:stretch/>
        </p:blipFill>
        <p:spPr>
          <a:xfrm>
            <a:off x="0" y="422413"/>
            <a:ext cx="9144000" cy="60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2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6-Software-design-96-204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9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C5042-83F9-3969-C9CC-B0C3BB748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8B03A0-00E1-798B-5A7F-1492D6AF8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39" y="884582"/>
            <a:ext cx="7752522" cy="579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1A7329-3589-977A-852A-2F4CC9A01917}"/>
              </a:ext>
            </a:extLst>
          </p:cNvPr>
          <p:cNvSpPr txBox="1"/>
          <p:nvPr/>
        </p:nvSpPr>
        <p:spPr>
          <a:xfrm>
            <a:off x="302242" y="178906"/>
            <a:ext cx="85395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of Class/ Data Design – ATM System</a:t>
            </a:r>
          </a:p>
        </p:txBody>
      </p:sp>
    </p:spTree>
    <p:extLst>
      <p:ext uri="{BB962C8B-B14F-4D97-AF65-F5344CB8AC3E}">
        <p14:creationId xmlns:p14="http://schemas.microsoft.com/office/powerpoint/2010/main" val="381162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3F36-7BA9-69A3-C08A-99C25F3B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62AE9D-9DA8-F5AE-8713-65F1C188A4B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9AAC3-A50B-759C-6702-AB94EE5D637C}"/>
              </a:ext>
            </a:extLst>
          </p:cNvPr>
          <p:cNvSpPr txBox="1"/>
          <p:nvPr/>
        </p:nvSpPr>
        <p:spPr>
          <a:xfrm>
            <a:off x="158496" y="14731"/>
            <a:ext cx="898550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Bank</a:t>
            </a:r>
          </a:p>
          <a:p>
            <a:pPr>
              <a:spcAft>
                <a:spcPts val="120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Bank — Customer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Bank has Customers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One-to-many (1 → *)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 single bank provides services to many customers. Every customer is registered under a specific bank.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Bank — ATM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Bank provides ATM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One-to-many (1 → *)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 bank manages and operates multiple ATMs for customer access.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Bank — Account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Bank maintains Account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One-to-many (1 → *)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The bank is responsible for maintaining customer accounts, both savings and current types.</a:t>
            </a:r>
          </a:p>
        </p:txBody>
      </p:sp>
    </p:spTree>
    <p:extLst>
      <p:ext uri="{BB962C8B-B14F-4D97-AF65-F5344CB8AC3E}">
        <p14:creationId xmlns:p14="http://schemas.microsoft.com/office/powerpoint/2010/main" val="264071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35EA-4201-BC9D-44B5-EAD41A5E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BA1826-C898-E529-BD68-5380C200F9B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02D8D-CEDA-7D3C-3E23-5F28B2B47733}"/>
              </a:ext>
            </a:extLst>
          </p:cNvPr>
          <p:cNvSpPr txBox="1"/>
          <p:nvPr/>
        </p:nvSpPr>
        <p:spPr>
          <a:xfrm>
            <a:off x="158496" y="14731"/>
            <a:ext cx="898550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Customer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Customer — Account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Customer owns Account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One-to-many (1 → *)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 customer can have multiple accounts (e.g., savings, current) in the same or different banks.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Customer — ATM (via account &amp; card)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Customer interacts with ATM indirectly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 customer uses the ATM via their cash card linked to their account, even though there's no direct arrow from Customer to ATM.</a:t>
            </a:r>
          </a:p>
          <a:p>
            <a:pPr>
              <a:spcAft>
                <a:spcPts val="120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07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30EA-5279-847A-EE1E-C1F959EB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89DA4D-6164-1F91-E574-3587E01D8B8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953E8-FA8C-04D2-121A-ECF01B8FFE7A}"/>
              </a:ext>
            </a:extLst>
          </p:cNvPr>
          <p:cNvSpPr txBox="1"/>
          <p:nvPr/>
        </p:nvSpPr>
        <p:spPr>
          <a:xfrm>
            <a:off x="158496" y="14731"/>
            <a:ext cx="89855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Account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Account — Cash-card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Account has Cash-card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One-to-one (1 → 1)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Each account is linked with one cash card, which is used for ATM access.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Account — ATM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ATM processes Account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Many-to-one (ATM accesses many accounts)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An ATM processes actions on customer accounts such as withdrawal, balance inquiry, etc.</a:t>
            </a:r>
          </a:p>
        </p:txBody>
      </p:sp>
    </p:spTree>
    <p:extLst>
      <p:ext uri="{BB962C8B-B14F-4D97-AF65-F5344CB8AC3E}">
        <p14:creationId xmlns:p14="http://schemas.microsoft.com/office/powerpoint/2010/main" val="2355373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4B06-81F5-3482-3D79-FFF50E01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B90383-9CBC-4D5D-6CAF-BEC788D7B4F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67474-73FC-69E8-404E-BA207246D202}"/>
              </a:ext>
            </a:extLst>
          </p:cNvPr>
          <p:cNvSpPr txBox="1"/>
          <p:nvPr/>
        </p:nvSpPr>
        <p:spPr>
          <a:xfrm>
            <a:off x="158496" y="14731"/>
            <a:ext cx="898550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Account — Types (Inheritance)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Saving_Account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Current_Account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Account is a parent class with Saving and Current as its subtypes. This helps organize functionality specific to each account type.</a:t>
            </a:r>
          </a:p>
          <a:p>
            <a:pPr>
              <a:spcAft>
                <a:spcPts val="1200"/>
              </a:spcAft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ATM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ATM — Transaction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ATM carries out Transaction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One-to-many (1 → *)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One ATM can perform many transactions like withdraw or print receipt.</a:t>
            </a:r>
          </a:p>
        </p:txBody>
      </p:sp>
    </p:spTree>
    <p:extLst>
      <p:ext uri="{BB962C8B-B14F-4D97-AF65-F5344CB8AC3E}">
        <p14:creationId xmlns:p14="http://schemas.microsoft.com/office/powerpoint/2010/main" val="1875350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6429D-8E6B-4172-268C-366CA50D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3AD263-FC69-E316-F393-2EB09C7515A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9E9E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C930C-1999-786E-F369-31773F2A4ADD}"/>
              </a:ext>
            </a:extLst>
          </p:cNvPr>
          <p:cNvSpPr txBox="1"/>
          <p:nvPr/>
        </p:nvSpPr>
        <p:spPr>
          <a:xfrm>
            <a:off x="158496" y="14731"/>
            <a:ext cx="8985503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ATM — Cash-card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ATM accepts Cash-card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Type: One-to-many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ATM accepts customer cash cards to begin the transaction process.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Transaction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Transaction — Cash-card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Relationship: Transaction accepts Cash-card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Each transaction is done using a valid cash card that links to the user’s account.</a:t>
            </a:r>
          </a:p>
          <a:p>
            <a:pPr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Transaction — Subclasses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Subtypes: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Withdraw        2.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Print_receipt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Explanation: These are specific types of transactions handled by the ATM. UML generalization shows that these actions are part of the broader Transaction class.</a:t>
            </a:r>
          </a:p>
        </p:txBody>
      </p:sp>
    </p:spTree>
    <p:extLst>
      <p:ext uri="{BB962C8B-B14F-4D97-AF65-F5344CB8AC3E}">
        <p14:creationId xmlns:p14="http://schemas.microsoft.com/office/powerpoint/2010/main" val="260409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1253</Words>
  <Application>Microsoft Office PowerPoint</Application>
  <PresentationFormat>On-screen Show (4:3)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Adelon-Bold</vt:lpstr>
      <vt:lpstr>Arial</vt:lpstr>
      <vt:lpstr>Calibri</vt:lpstr>
      <vt:lpstr>Office Theme</vt:lpstr>
      <vt:lpstr>Software Design-2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Mihad</dc:creator>
  <cp:keywords/>
  <dc:description>generated using python-pptx</dc:description>
  <cp:lastModifiedBy>Mihad Hasan</cp:lastModifiedBy>
  <cp:revision>27</cp:revision>
  <dcterms:created xsi:type="dcterms:W3CDTF">2013-01-27T09:14:16Z</dcterms:created>
  <dcterms:modified xsi:type="dcterms:W3CDTF">2025-12-08T10:52:48Z</dcterms:modified>
  <cp:category/>
</cp:coreProperties>
</file>